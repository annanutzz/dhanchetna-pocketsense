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C5CE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C5CE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C5CE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C5CE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C5CE7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Food</c:v>
                  </c:pt>
                  <c:pt idx="1">
                    <c:v>Transport</c:v>
                  </c:pt>
                  <c:pt idx="2">
                    <c:v>Clothing</c:v>
                  </c:pt>
                  <c:pt idx="3">
                    <c:v>Medical</c:v>
                  </c:pt>
                  <c:pt idx="4">
                    <c:v>Stationery</c:v>
                  </c:pt>
                  <c:pt idx="5">
                    <c:v>Subscriptions</c:v>
                  </c:pt>
                  <c:pt idx="6">
                    <c:v>Entertainment</c:v>
                  </c:pt>
                  <c:pt idx="7">
                    <c:v>Utilities</c:v>
                  </c:pt>
                  <c:pt idx="8">
                    <c:v>Personal Care</c:v>
                  </c:pt>
                  <c:pt idx="9">
                    <c:v>Communication</c:v>
                  </c:pt>
                  <c:pt idx="10">
                    <c:v>Miscellaneous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0.96</c:v>
                </c:pt>
                <c:pt idx="1">
                  <c:v>0.94</c:v>
                </c:pt>
                <c:pt idx="2">
                  <c:v>0.895</c:v>
                </c:pt>
                <c:pt idx="3">
                  <c:v>0.895</c:v>
                </c:pt>
                <c:pt idx="4">
                  <c:v>0.88</c:v>
                </c:pt>
                <c:pt idx="5">
                  <c:v>0.865</c:v>
                </c:pt>
                <c:pt idx="6">
                  <c:v>0.85</c:v>
                </c:pt>
                <c:pt idx="7">
                  <c:v>0.83</c:v>
                </c:pt>
                <c:pt idx="8">
                  <c:v>0.82</c:v>
                </c:pt>
                <c:pt idx="9">
                  <c:v>0.81</c:v>
                </c:pt>
                <c:pt idx="10">
                  <c:v>0.71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BBB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b"/>
        <c:majorGridlines>
          <c:spPr>
            <a:ln w="6350" cap="flat">
              <a:solidFill>
                <a:srgbClr val="2A2A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BBB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BBBBC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BBBBCC"/>
                </a:solidFill>
                <a:latin typeface="Arial"/>
              </a:rPr>
              <a:t>API Response Times (ms)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Time (ms)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C5CE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CA2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Transaction Create</c:v>
                  </c:pt>
                  <c:pt idx="1">
                    <c:v>Analytics Summary</c:v>
                  </c:pt>
                  <c:pt idx="2">
                    <c:v>Advice Generation</c:v>
                  </c:pt>
                  <c:pt idx="3">
                    <c:v>Category Prediction</c:v>
                  </c:pt>
                  <c:pt idx="4">
                    <c:v>Budget Status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62</c:v>
                </c:pt>
                <c:pt idx="2">
                  <c:v>110</c:v>
                </c:pt>
                <c:pt idx="3">
                  <c:v>8</c:v>
                </c:pt>
                <c:pt idx="4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BBB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2A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BBB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[morning/afternoon]. My project is DhanChetna — a context-aware expense tracker designed specifically for Indian college students. The name means 'financial awareness' in Hindi. Today I'll walk you through the problem, the system I built, and the ML results I achieved.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problem: every popular finance app was designed for working professionals with a steady monthly salary. A hostel student whose food is already provided will be incorrectly flagged for overspending on food. There's no prior system that combines student context with ML and full-stack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clear objectives. The key differentiator is objective 4 — context-aware advice. The same transaction data produces different advice depending on whether the student lives in a hostel with meals included versus a rented apartment where they cook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surveyed 8 papers. Key finding: Logistic Regression and Random Forest are well-validated for tabular financial data. ARIMA works for time-series trend analysis. No prior work combined student context modelling with ML categorization in a full-stack deployment. That's the gap DhanChetna fills.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 is a modular monolith. Three frontend clients all talk to one Django REST API. The ML pipeline runs server-side, so the Tkinter desktop app gets the same ML-powered features as the web app. I chose a modular monolith over microservices because for a student-scale deployment, the operational overhead of microservices isn't justified.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deliberate decisions worth highlighting: first, using DecimalField instead of FloatField for money — floating point errors compound in financial calculations. Second, choosing Logistic Regression over Random Forest — 18x faster inference and a 43KB model vs 8.2MB, which matters when serving potentially thousands of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models, all related to User. The most important design decision was using DecimalField for all monetary values — Python's float type can produce rounding errors like 10.30 becoming 10.29999... in financial calculations. UUID primary keys ensure safe sync across the web and desktop clients.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real student expense data was available due to privacy constraints, so I generated 412 synthetic user profiles across four living situations. The simulation ran over a 4-month window — roughly one semester — producing 34,217 transactions. Hostel students at 47% form the majority cohort, which drove the context-aware advice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XGBoost tops the accuracy table at 89.4% — but its inference time is 19.7ms and model file is 5.8MB. Logistic Regression is only 2.1 percentage points behind, runs in 0.8ms, and fits in 43KB. For a student-scale web app where advice must feel instant, LR is the clear engineering choice. This is a deliberate trade-off, not a limitation.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Food scores 0.960 F1 because Indian food transactions have very consistent labels — 'Swiggy', 'Zomato', 'canteen'. Miscellaneous scores 0.710 — that's expected and acceptable because it's a catch-all category. The macro average of 0.841 across 11 categories is strong performance for a 43KB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LSTM actually edges out rule-based by 0.004 F1, but requires 90+ days of per-user transaction history before it can make any predictions. A new student signing up today would get zero recurring pattern detection for their first three months. Rule-based works from day one with just a few transactions.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 of the system. Rule 1 is the clearest example: a hostel student whose food is covered by the mess fee spending 45%+ on food is doing something different from a rented-apartment student spending the same amount. Generic apps can't make that distinction. DhanChetna can, because we store the student's living situation in their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web app uses Django templates with vanilla CSS — no React, no Vue. The dark theme was intentional: students primarily use apps at night. Chart.js powers all visualizations. Replace the placeholder boxes with actual screenshots before your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desktop app was built with Python's standard-library Tkinter — no external GUI dependency. It calls the same REST API as the web app, which demonstrates the modular architecture. A student who prefers a native app experience gets identical ML-powered features without any additional backend development.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endpoints respond under 120ms — well within the 200ms threshold for perceived real-time interaction. The 87% accuracy on held-out data is the honest number. The 96% effective accuracy comes from manually reviewing the 26 disagreements — in 18 of them, the predicted category was a perfectly reasonable secondary classification, such as predicting 'Food' when the ground truth was 'Entertainment' for a restaurant visit.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transparent about limitations is a mark of good engineering. The synthetic dataset is the biggest constraint — real student data would likely surface edge cases we haven't modelled. The most impactful future addition would be LLM-powered advice, which could replace the 4 hand-authored rules with dynamic, conversational financial guidance.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central thesis: you don't need a large, complex model to build genuinely useful financial intelligence for students. A 43KB Logistic Regression model with the right features and context-aware rules outperforms heavier solutions at deployment scale. DhanChetna proves that interpretability and performance are not in conflict.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I'm happy to do a live demo — the credentials are on screen. I'm also happy to walk through any specific module: the ML pipeline, the advice engine, the database schema, or the Tkinter client. What would you like to explore?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6C5CE7">
              <a:alpha val="15000"/>
            </a:srgbClr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2ECC71">
              <a:alpha val="12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DhanChetna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Context-Aware Expense Tracking System for Students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Django + Tkinter Application with ML-Powered Financial Intelligence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3200400" cy="274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</a:t>
            </a:r>
            <a:pPr indent="0" marL="0">
              <a:buNone/>
            </a:pPr>
            <a:r>
              <a:rPr lang="en-US" sz="12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Department of Computer Applications   |   University Name   |  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1280160" cy="292608"/>
          </a:xfrm>
          <a:prstGeom prst="roundRect">
            <a:avLst>
              <a:gd name="adj" fmla="val 31250"/>
            </a:avLst>
          </a:prstGeom>
          <a:solidFill>
            <a:srgbClr val="6C5CE7">
              <a:alpha val="40000"/>
            </a:srgbClr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918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5.2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03120" y="3291840"/>
            <a:ext cx="1280160" cy="292608"/>
          </a:xfrm>
          <a:prstGeom prst="roundRect">
            <a:avLst>
              <a:gd name="adj" fmla="val 31250"/>
            </a:avLst>
          </a:prstGeom>
          <a:solidFill>
            <a:srgbClr val="6C5CE7">
              <a:alpha val="40000"/>
            </a:srgbClr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32918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49040" y="3291840"/>
            <a:ext cx="1280160" cy="292608"/>
          </a:xfrm>
          <a:prstGeom prst="roundRect">
            <a:avLst>
              <a:gd name="adj" fmla="val 31250"/>
            </a:avLst>
          </a:prstGeom>
          <a:solidFill>
            <a:srgbClr val="6C5CE7">
              <a:alpha val="40000"/>
            </a:srgbClr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32918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0" y="3291840"/>
            <a:ext cx="1280160" cy="292608"/>
          </a:xfrm>
          <a:prstGeom prst="roundRect">
            <a:avLst>
              <a:gd name="adj" fmla="val 31250"/>
            </a:avLst>
          </a:prstGeom>
          <a:solidFill>
            <a:srgbClr val="6C5CE7">
              <a:alpha val="40000"/>
            </a:srgbClr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32918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3977640" cy="3566160"/>
          </a:xfrm>
          <a:prstGeom prst="rect">
            <a:avLst/>
          </a:prstGeom>
          <a:solidFill>
            <a:srgbClr val="1A1A2E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Finance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apps (Walnut, YNAB) target salaried professionals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Students: irregular income — pocket money, stipends, part-time jobs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students: food provided, yet food spending flagged as excessive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Micro-spending (chai, Xerox) under-captured by receipt-based apps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17720" y="960120"/>
            <a:ext cx="4114800" cy="3566160"/>
          </a:xfrm>
          <a:prstGeom prst="rect">
            <a:avLst/>
          </a:prstGeom>
          <a:solidFill>
            <a:srgbClr val="1A1A2E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38988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are descriptive, not prescriptive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student-context modelling (living situation, income type)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recurring expense detection for semester fees &amp; subscriptions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categorisation fails on Indian transaction labels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397764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4864" cy="109728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4128" y="109728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Tracker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481328"/>
            <a:ext cx="3227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system modelled on student lifecycle — hostel, PG, home, rented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397764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05840"/>
            <a:ext cx="54864" cy="109728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67528" y="109728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Auto-Categorization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67528" y="1481328"/>
            <a:ext cx="3227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transactions using TF-IDF + Logistic Regression in &lt;1ms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397764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86000"/>
            <a:ext cx="54864" cy="109728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24128" y="237744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Detection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2761488"/>
            <a:ext cx="3227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rule-based engine to surface semester fees &amp; subscriptions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286000"/>
            <a:ext cx="397764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286000"/>
            <a:ext cx="54864" cy="109728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67528" y="237744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Engine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67528" y="2761488"/>
            <a:ext cx="3227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insights driven by living-situation context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566160"/>
            <a:ext cx="841248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566160"/>
            <a:ext cx="54864" cy="109728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639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24128" y="3657600"/>
            <a:ext cx="7662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System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4128" y="4041648"/>
            <a:ext cx="7662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Django web frontend + Tkinter desktop client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84048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9260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[1] JOIREM (2023)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dashboards improve financial discipline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system-level intelligence; manual entry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[2–3] Open-source trackers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transaction logging, static categories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analytics, no pattern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[4–5] OCR-based systems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 receipt capture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spending pattern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[6–8] ML in finance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&amp; RF effective on tabular data; ARIMA for trends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student-specific context modelling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→ DhanChetna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context + ML + full-stack deployment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this is what we built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1417320" cy="685800"/>
          </a:xfrm>
          <a:prstGeom prst="rect">
            <a:avLst/>
          </a:prstGeom>
          <a:solidFill>
            <a:srgbClr val="6C5CE7">
              <a:alpha val="60000"/>
            </a:srgbClr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Web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82980" y="1645920"/>
            <a:ext cx="0" cy="320040"/>
          </a:xfrm>
          <a:prstGeom prst="line">
            <a:avLst/>
          </a:prstGeom>
          <a:noFill/>
          <a:ln w="19050">
            <a:solidFill>
              <a:srgbClr val="BBBB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74520" y="960120"/>
            <a:ext cx="1417320" cy="685800"/>
          </a:xfrm>
          <a:prstGeom prst="rect">
            <a:avLst/>
          </a:prstGeom>
          <a:solidFill>
            <a:srgbClr val="2ECC71">
              <a:alpha val="6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74520" y="9601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Desktop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83180" y="1645920"/>
            <a:ext cx="0" cy="320040"/>
          </a:xfrm>
          <a:prstGeom prst="line">
            <a:avLst/>
          </a:prstGeom>
          <a:noFill/>
          <a:ln w="19050">
            <a:solidFill>
              <a:srgbClr val="BBBB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960120"/>
            <a:ext cx="1417320" cy="685800"/>
          </a:xfrm>
          <a:prstGeom prst="rect">
            <a:avLst/>
          </a:prstGeom>
          <a:solidFill>
            <a:srgbClr val="888899">
              <a:alpha val="30000"/>
            </a:srgbClr>
          </a:solidFill>
          <a:ln w="12700">
            <a:solidFill>
              <a:srgbClr val="8888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9601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Kivy Mobile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(Placeholder)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83380" y="1645920"/>
            <a:ext cx="0" cy="320040"/>
          </a:xfrm>
          <a:prstGeom prst="line">
            <a:avLst/>
          </a:prstGeom>
          <a:noFill/>
          <a:ln w="19050">
            <a:solidFill>
              <a:srgbClr val="BBBB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965960"/>
            <a:ext cx="4572000" cy="59436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19659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 API  (6 Django Apps)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0" y="2560320"/>
            <a:ext cx="0" cy="365760"/>
          </a:xfrm>
          <a:prstGeom prst="line">
            <a:avLst/>
          </a:prstGeom>
          <a:noFill/>
          <a:ln w="19050">
            <a:solidFill>
              <a:srgbClr val="BBBB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926080"/>
            <a:ext cx="1417320" cy="594360"/>
          </a:xfrm>
          <a:prstGeom prst="rect">
            <a:avLst/>
          </a:prstGeom>
          <a:solidFill>
            <a:srgbClr val="27AE60">
              <a:alpha val="5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9260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(Production)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0" y="2926080"/>
            <a:ext cx="1417320" cy="594360"/>
          </a:xfrm>
          <a:prstGeom prst="rect">
            <a:avLst/>
          </a:prstGeom>
          <a:solidFill>
            <a:srgbClr val="F39C12">
              <a:alpha val="50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29260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(JWT/Sessions)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83280" y="2926080"/>
            <a:ext cx="1417320" cy="594360"/>
          </a:xfrm>
          <a:prstGeom prst="rect">
            <a:avLst/>
          </a:prstGeom>
          <a:solidFill>
            <a:srgbClr val="888899">
              <a:alpha val="50000"/>
            </a:srgbClr>
          </a:solidFill>
          <a:ln w="12700">
            <a:solidFill>
              <a:srgbClr val="8888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29260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(Development)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120640" y="960120"/>
            <a:ext cx="3657600" cy="32004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1208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212080" y="1417320"/>
            <a:ext cx="3474720" cy="731520"/>
          </a:xfrm>
          <a:prstGeom prst="rect">
            <a:avLst/>
          </a:prstGeom>
          <a:solidFill>
            <a:srgbClr val="1E1E35"/>
          </a:solidFill>
          <a:ln w="10160">
            <a:solidFill>
              <a:srgbClr val="2ECC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14630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Categorizer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257800" y="1783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+ TF-IDF  •  87.3% acc  •  0.8ms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212080" y="2286000"/>
            <a:ext cx="3474720" cy="731520"/>
          </a:xfrm>
          <a:prstGeom prst="rect">
            <a:avLst/>
          </a:prstGeom>
          <a:solidFill>
            <a:srgbClr val="1E1E35"/>
          </a:solidFill>
          <a:ln w="1016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23317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Detector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257800" y="2651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 •  91.2% recall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212080" y="3154680"/>
            <a:ext cx="3474720" cy="731520"/>
          </a:xfrm>
          <a:prstGeom prst="rect">
            <a:avLst/>
          </a:prstGeom>
          <a:solidFill>
            <a:srgbClr val="1E1E35"/>
          </a:solidFill>
          <a:ln w="10160">
            <a:solidFill>
              <a:srgbClr val="2ECC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32004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Engine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257800" y="3520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context-aware rules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4320" y="3703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Apps: accounts  •  transactions  •  budgets  •  analytics  •  advice  •  sync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93192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2926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Django 5.2 + Django REST Framework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Batteries-included, ORM, serializers, auth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Auth + Django sessions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for mobile/desktop, sessions for web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(Prod)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ACID compliance, DecimalField for money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(Dev)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Zero-config, fast iteration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Frontend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Django Templates + Chart.js + Vanilla CSS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framework overhead; Chart.js for analytics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 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Tkinter (9 screens)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stdlib only — no external GUI dependency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 1.4, fuzzywuzzy, TF-IDF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43KB LR model, 0.8ms inference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1920240"/>
            <a:ext cx="1828800" cy="685800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0" y="19202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164592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6868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UserProfile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97280" y="1197864"/>
            <a:ext cx="2560320" cy="1065276"/>
          </a:xfrm>
          <a:prstGeom prst="line">
            <a:avLst/>
          </a:prstGeom>
          <a:noFill/>
          <a:ln w="9525">
            <a:solidFill>
              <a:srgbClr val="BBBBC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91440" y="2057400"/>
            <a:ext cx="164592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205740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Category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2386584"/>
            <a:ext cx="2743200" cy="-123444"/>
          </a:xfrm>
          <a:prstGeom prst="line">
            <a:avLst/>
          </a:prstGeom>
          <a:noFill/>
          <a:ln w="9525">
            <a:solidFill>
              <a:srgbClr val="BBBBCC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91440" y="3291840"/>
            <a:ext cx="164592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" y="32918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Category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621024"/>
            <a:ext cx="2743200" cy="-1357884"/>
          </a:xfrm>
          <a:prstGeom prst="line">
            <a:avLst/>
          </a:prstGeom>
          <a:noFill/>
          <a:ln w="9525">
            <a:solidFill>
              <a:srgbClr val="BBBBCC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103120" y="4114800"/>
            <a:ext cx="164592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411480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SavingsGoal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26080" y="4443984"/>
            <a:ext cx="731520" cy="-2180844"/>
          </a:xfrm>
          <a:prstGeom prst="line">
            <a:avLst/>
          </a:prstGeom>
          <a:noFill/>
          <a:ln w="9525">
            <a:solidFill>
              <a:srgbClr val="BBBBCC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303520" y="4114800"/>
            <a:ext cx="164592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411480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RecurringPattern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4443984"/>
            <a:ext cx="-2468880" cy="-2180844"/>
          </a:xfrm>
          <a:prstGeom prst="line">
            <a:avLst/>
          </a:prstGeom>
          <a:noFill/>
          <a:ln w="9525">
            <a:solidFill>
              <a:srgbClr val="BBBBCC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858000" y="3200400"/>
            <a:ext cx="164592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320040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AuditLog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80960" y="3529584"/>
            <a:ext cx="-4023360" cy="-1266444"/>
          </a:xfrm>
          <a:prstGeom prst="line">
            <a:avLst/>
          </a:prstGeom>
          <a:noFill/>
          <a:ln w="9525">
            <a:solidFill>
              <a:srgbClr val="BBBBCC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132320" y="1920240"/>
            <a:ext cx="164592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0" y="19202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DeviceSync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249424"/>
            <a:ext cx="-4297680" cy="13716"/>
          </a:xfrm>
          <a:prstGeom prst="line">
            <a:avLst/>
          </a:prstGeom>
          <a:noFill/>
          <a:ln w="9525">
            <a:solidFill>
              <a:srgbClr val="BBBBCC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" y="455371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Decisions:  UUID PKs  •  DecimalField (not float!) for money  •  Soft deletes  •  Auto timestamps  •  Audit log for all mutations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Construction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192024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536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Users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914400"/>
            <a:ext cx="192024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005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34,217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514600" y="1536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192024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005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months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63440" y="1536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Window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12280" y="914400"/>
            <a:ext cx="192024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005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812280" y="1536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Features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03120"/>
          <a:ext cx="8412480" cy="2286000"/>
        </p:xfrm>
        <a:graphic>
          <a:graphicData uri="http://schemas.openxmlformats.org/drawingml/2006/table">
            <a:tbl>
              <a:tblPr/>
              <a:tblGrid>
                <a:gridCol w="2560320"/>
                <a:gridCol w="1645920"/>
                <a:gridCol w="2011680"/>
                <a:gridCol w="21945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Living Situation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Income (₹)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Hostel (meals included)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  (47%)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(38%)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(day scholar)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  (28%)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(29%)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 / Paying Guest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  (15%)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+ Rent (41%)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Rented Apartment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  (10%)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11,300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+ Utilities (35%)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365760" y="44988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TF-IDF (500 features)  •  log(amount)  •  day-of-week  •  living situation  •  income band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Comparison — Expense Categorization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1280160"/>
                <a:gridCol w="1188720"/>
                <a:gridCol w="1188720"/>
                <a:gridCol w="1188720"/>
                <a:gridCol w="12801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 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 KB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 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KB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SVM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 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 KB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 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 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38.6 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251960"/>
            <a:ext cx="8412480" cy="658368"/>
          </a:xfrm>
          <a:prstGeom prst="rect">
            <a:avLst/>
          </a:prstGeom>
          <a:solidFill>
            <a:srgbClr val="0D2010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4297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Logistic Regression?  18× faster than Random Forest  •  190× smaller model  •  Calibrated probabilities for confidence scores  •  Human-interpretable coefficients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F1 Scores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64008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95160" y="1005840"/>
            <a:ext cx="192024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995160" y="1097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0.841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995160" y="1627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Average F1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995160" y="2103120"/>
            <a:ext cx="192024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995160" y="2194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0.960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6995160" y="27249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Category (Food)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995160" y="3200400"/>
            <a:ext cx="192024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995160" y="3291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0.710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6995160" y="3822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(Misc.)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995160" y="42793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Miscellaneous is expected low — it is a catch-all category by design.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Expense Detection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265176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371600"/>
                <a:gridCol w="1371600"/>
                <a:gridCol w="155448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(Fuzzy Match)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DBSCAN Clustering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Sequence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B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749040"/>
            <a:ext cx="8412480" cy="11430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3794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Method Details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415137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title matching</a:t>
            </a:r>
            <a:pPr indent="0" marL="0">
              <a:buNone/>
            </a:pPr>
            <a:r>
              <a:rPr lang="en-US" sz="11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(token sort ratio ≥ 80%)  •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check</a:t>
            </a:r>
            <a:pPr indent="0" marL="0">
              <a:buNone/>
            </a:pPr>
            <a:r>
              <a:rPr lang="en-US" sz="11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(28–33 day window)  •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tolerance</a:t>
            </a:r>
            <a:pPr indent="0" marL="0">
              <a:buNone/>
            </a:pPr>
            <a:r>
              <a:rPr lang="en-US" sz="11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(±10%)  •  Zero training data required  •  LSTM needs 90+ days per user to bootstrap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Advice Engine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54864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15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  —  Food &gt; 45% of income (hostel)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your hostel provides meals, this may be compensatory spending — check delivery app habits.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05840"/>
            <a:ext cx="4023360" cy="54864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115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  —  Entertainment &gt; 20% of income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148132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your active subscriptions — you may have overlapping streaming services.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697480"/>
            <a:ext cx="4023360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697480"/>
            <a:ext cx="4023360" cy="54864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072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  —  Budget &gt; 90% before 20th of month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17296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run short before month-end. Consider deferring non-essential purchases.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697480"/>
            <a:ext cx="4023360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697480"/>
            <a:ext cx="4023360" cy="54864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8072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4  —  ≥ 3 recurring patterns detected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17296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committed expenses of ₹X/month. Here is your breakdown before discretionary spending.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434840"/>
            <a:ext cx="3931920" cy="475488"/>
          </a:xfrm>
          <a:prstGeom prst="rect">
            <a:avLst/>
          </a:prstGeom>
          <a:solidFill>
            <a:srgbClr val="E74C3C">
              <a:alpha val="2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4622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Generic:  "Reduce food spending"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4434840"/>
            <a:ext cx="4023360" cy="475488"/>
          </a:xfrm>
          <a:prstGeom prst="rect">
            <a:avLst/>
          </a:prstGeom>
          <a:solidFill>
            <a:srgbClr val="2ECC71">
              <a:alpha val="2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44622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Ours:  Context-aware, hostel-specific insight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— Screenshots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743200" cy="3291840"/>
          </a:xfrm>
          <a:prstGeom prst="rect">
            <a:avLst/>
          </a:prstGeom>
          <a:solidFill>
            <a:srgbClr val="121225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743200" cy="54864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560320" cy="1920240"/>
          </a:xfrm>
          <a:prstGeom prst="rect">
            <a:avLst/>
          </a:prstGeom>
          <a:solidFill>
            <a:srgbClr val="0A0A18"/>
          </a:solidFill>
          <a:ln w="6350">
            <a:solidFill>
              <a:srgbClr val="6C5CE7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2560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cards + Budget bars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Recent transactions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960120"/>
            <a:ext cx="2743200" cy="3291840"/>
          </a:xfrm>
          <a:prstGeom prst="rect">
            <a:avLst/>
          </a:prstGeom>
          <a:solidFill>
            <a:srgbClr val="121225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960120"/>
            <a:ext cx="2743200" cy="54864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051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Page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29000" y="1463040"/>
            <a:ext cx="2560320" cy="1920240"/>
          </a:xfrm>
          <a:prstGeom prst="rect">
            <a:avLst/>
          </a:prstGeom>
          <a:solidFill>
            <a:srgbClr val="0A0A18"/>
          </a:solidFill>
          <a:ln w="6350">
            <a:solidFill>
              <a:srgbClr val="6C5CE7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3429000" y="1463040"/>
            <a:ext cx="2560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3474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advice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per rule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960120"/>
            <a:ext cx="2468880" cy="3291840"/>
          </a:xfrm>
          <a:prstGeom prst="rect">
            <a:avLst/>
          </a:prstGeom>
          <a:solidFill>
            <a:srgbClr val="121225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960120"/>
            <a:ext cx="2468880" cy="54864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0515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1463040"/>
            <a:ext cx="2286000" cy="1920240"/>
          </a:xfrm>
          <a:prstGeom prst="rect">
            <a:avLst/>
          </a:prstGeom>
          <a:solidFill>
            <a:srgbClr val="0A0A18"/>
          </a:solidFill>
          <a:ln w="6350">
            <a:solidFill>
              <a:srgbClr val="6C5CE7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400800" y="146304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3474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+ Weekly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trend (Chart.js)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4348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dark purple + green color scheme  •  Responsive design  •  Chart.js for all visualizations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Application — Tkinter Client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5029200" cy="3931920"/>
          </a:xfrm>
          <a:prstGeom prst="rect">
            <a:avLst/>
          </a:prstGeom>
          <a:solidFill>
            <a:srgbClr val="121225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4846320" cy="3291840"/>
          </a:xfrm>
          <a:prstGeom prst="rect">
            <a:avLst/>
          </a:prstGeom>
          <a:solidFill>
            <a:srgbClr val="0A0A18"/>
          </a:solidFill>
          <a:ln w="6350">
            <a:solidFill>
              <a:srgbClr val="6C5CE7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Tkinter Screenshot]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0" y="960120"/>
            <a:ext cx="3108960" cy="3931920"/>
          </a:xfrm>
          <a:prstGeom prst="rect">
            <a:avLst/>
          </a:prstGeom>
          <a:solidFill>
            <a:srgbClr val="1A1A2E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0" y="10241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Highlights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0" y="1463040"/>
            <a:ext cx="2926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Tkinter screens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REST API as web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modularity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stdlib only — no pip install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local cache for offline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 on reconnect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Performance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914400"/>
            <a:ext cx="27432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005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87.0%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943600" y="15361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Accuracy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(200 held-out txns)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943600" y="2057400"/>
            <a:ext cx="27432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0" y="2148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~96%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5943600" y="26791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Usable Accuracy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(reasonable secondary labels)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0" y="3200400"/>
            <a:ext cx="27432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43600" y="3291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C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18/26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5943600" y="38221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Disagreements with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secondary label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5760" y="43434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 endpoints respond under 120ms  •  Meets real-time interaction threshold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3886200" cy="36576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38862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611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 — no real student privacy data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receipt scanning not yet implemented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rules manually authored (4 rules)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Kivy mobile app not yet production-ready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peer benchmarking across users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26280" y="960120"/>
            <a:ext cx="4251960" cy="36576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960120"/>
            <a:ext cx="425196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1463040"/>
            <a:ext cx="3977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Kivy app → Google Play Store release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natural language advice (GPT/Gemini API)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via Isolation Forest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peer benchmarking (cohort comparison)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student data collection with IRB consent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receipt scanning (Tesseract / Google Vision)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192024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87.3%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(LR)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1005840"/>
            <a:ext cx="192024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097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 ms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514600" y="1627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192024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097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KB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63440" y="1627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12280" y="1005840"/>
            <a:ext cx="192024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097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91.2%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812280" y="1627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Pattern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331720"/>
            <a:ext cx="8412480" cy="18288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450592"/>
            <a:ext cx="8229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DhanChetna = context-aware expense intelligence for Indian college students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interpretable ML — Logistic Regression outperforms larger models at deployment scale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recurring detection: 88.4% precision, 91.2% recall, zero training data required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full-stack: one REST API serves Django web, Tkinter desktop, and future mobile clients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251960"/>
            <a:ext cx="8412480" cy="621792"/>
          </a:xfrm>
          <a:prstGeom prst="rect">
            <a:avLst/>
          </a:prstGeom>
          <a:solidFill>
            <a:srgbClr val="0D0D25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4251960"/>
            <a:ext cx="54864" cy="62179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279392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"Interpretable, lightweight ML models within a modular full-stack architecture are sufficient and appropriate for student-scale personal finance intelligence."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6C5CE7">
              <a:alpha val="10000"/>
            </a:srgbClr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2ECC71">
              <a:alpha val="8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0" y="2057400"/>
            <a:ext cx="4572000" cy="36576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2286000"/>
            <a:ext cx="54864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65960" y="233172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Credentials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65960" y="263347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Username:  demo   |   Password:  demo1234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3429000"/>
            <a:ext cx="2148840" cy="594360"/>
          </a:xfrm>
          <a:prstGeom prst="roundRect">
            <a:avLst>
              <a:gd name="adj" fmla="val 12308"/>
            </a:avLst>
          </a:prstGeom>
          <a:solidFill>
            <a:srgbClr val="1A1A35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4290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
</a:t>
            </a:r>
            <a:pPr algn="ctr" indent="0" marL="0">
              <a:buNone/>
            </a:pPr>
            <a:r>
              <a:rPr lang="en-US" sz="950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github.com/your-username/dhanchetna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11880" y="3429000"/>
            <a:ext cx="2148840" cy="594360"/>
          </a:xfrm>
          <a:prstGeom prst="roundRect">
            <a:avLst>
              <a:gd name="adj" fmla="val 12308"/>
            </a:avLst>
          </a:prstGeom>
          <a:solidFill>
            <a:srgbClr val="1A1A35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34290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
</a:t>
            </a:r>
            <a:pPr algn="ctr" indent="0" marL="0">
              <a:buNone/>
            </a:pPr>
            <a:r>
              <a:rPr lang="en-US" sz="950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dhanchetna.yourdomain.com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3429000"/>
            <a:ext cx="2148840" cy="594360"/>
          </a:xfrm>
          <a:prstGeom prst="roundRect">
            <a:avLst>
              <a:gd name="adj" fmla="val 12308"/>
            </a:avLst>
          </a:prstGeom>
          <a:solidFill>
            <a:srgbClr val="1A1A35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34290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
</a:t>
            </a:r>
            <a:pPr algn="ctr" indent="0" marL="0">
              <a:buNone/>
            </a:pPr>
            <a:r>
              <a:rPr lang="en-US" sz="950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bit.ly/dhanchetna-report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4434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DhanChetna — Financial Awareness for Every Student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DhanChetna: A Context-Aware Expense Tracking System for Students</dc:title>
  <dc:subject>PptxGenJS Presentation</dc:subject>
  <dc:creator>PptxGenJS</dc:creator>
  <cp:lastModifiedBy>PptxGenJS</cp:lastModifiedBy>
  <cp:revision>1</cp:revision>
  <dcterms:created xsi:type="dcterms:W3CDTF">2026-05-10T11:57:05Z</dcterms:created>
  <dcterms:modified xsi:type="dcterms:W3CDTF">2026-05-10T11:57:05Z</dcterms:modified>
</cp:coreProperties>
</file>